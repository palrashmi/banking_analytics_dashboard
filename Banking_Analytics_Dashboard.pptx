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Transaction Amount 2025 (M)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Amount (M)</c:v>
                </c:pt>
              </c:strCache>
            </c:strRef>
          </c:tx>
          <c:spPr>
            <a:solidFill>
              <a:srgbClr val="0891B2"/>
            </a:solidFill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3.9</c:v>
                </c:pt>
                <c:pt idx="1">
                  <c:v>0.9</c:v>
                </c:pt>
                <c:pt idx="2">
                  <c:v>4</c:v>
                </c:pt>
                <c:pt idx="3">
                  <c:v>2.9</c:v>
                </c:pt>
                <c:pt idx="4">
                  <c:v>0.8</c:v>
                </c:pt>
                <c:pt idx="5">
                  <c:v>2</c:v>
                </c:pt>
                <c:pt idx="6">
                  <c:v>2.1</c:v>
                </c:pt>
                <c:pt idx="7">
                  <c:v>1.8</c:v>
                </c:pt>
                <c:pt idx="8">
                  <c:v>2.9</c:v>
                </c:pt>
                <c:pt idx="9">
                  <c:v>3</c:v>
                </c:pt>
                <c:pt idx="10">
                  <c:v>0.7</c:v>
                </c:pt>
                <c:pt idx="1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44-4B80-B5A6-4E58F7DC4D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Debit vs Credit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151-4834-B5C9-B6E8D0DDB370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51-4834-B5C9-B6E8D0DDB37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51-4834-B5C9-B6E8D0DDB37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51-4834-B5C9-B6E8D0DDB37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DEBIT</c:v>
                </c:pt>
                <c:pt idx="1">
                  <c:v>Credit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49.99</c:v>
                </c:pt>
                <c:pt idx="1">
                  <c:v>50.01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51-4834-B5C9-B6E8D0DDB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84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Report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2286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•  Power BI  •  DAX  •  Data Cleaning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Analyst  |  2025–2026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CASE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bank needs to monitor transaction health, detect anomalies, and understand customer behavior across 10,000 transactions spanning 2025–2026.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57400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212848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212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lacks real-time view of account balances and transaction trends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0574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20574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22128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212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64408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34015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formats, NULL values, inconsistent transaction types in raw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20574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205740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221284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2212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63056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Insight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08776" y="34015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view of customer age, gender distribution or account health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Explain the business context — why this analysis matters to the bank's operations and decision-making.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 &amp; KEY QUESTIONS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Transaction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volume and value of transactions? Are there seasonal patterns?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6400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Balance Health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 types are in deficit? Who are the high-risk customers?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Customer Demographics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customers distributed by age and gender across the bank?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4028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Inactive Accounts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accounts became inactive over time? When did inactivity spike?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Data Quality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NULL values, duplicates, or mismatched records distorting analysis?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66160"/>
            <a:ext cx="64008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Business KPIs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KPIs: Total Transactions, Transaction Amount, Debit %, Credit 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Walk through each objective and explain how your dashboard answers it directly.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41448" y="8229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41448" y="82296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1448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8229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82296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08576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75704" y="8229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75704" y="82296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75704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(Features)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1284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12848"/>
            <a:ext cx="14630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128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7452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74520" y="262432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Name, Gender, DOB, Address, Email, Phone, AccountID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8152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81528"/>
            <a:ext cx="14630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8152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745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74520" y="349300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AccountID, CustomerID, Type, OpenDate, Balance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95020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950208"/>
            <a:ext cx="14630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95020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7452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74520" y="436168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TransactionID, AccountID, TransactionDate, Type, Amount, Description, Currency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SQL Server (Power_BI2)  |  Final Table: CombinedBankingDataset  |  Join: Transactions LEFT JOIN Accounts LEFT JOIN Customers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TransactionDate as VARCHAR with formats: yyyy/MM/dd, dd-MM-yyyy, MM/dd/yyyy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896112"/>
            <a:ext cx="3200400" cy="5029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9418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Standardized via CONVERT() in SQL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09344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550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CustomerID (9,700 rows)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9751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9,700 / 10,000 rows have NULL CustomerID — transactions not directly linked to 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700784"/>
            <a:ext cx="3200400" cy="5029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74650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DAX: DISTINCTCOUNT with BLANK() filter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14016"/>
            <a:ext cx="64008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59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Type Capitalization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797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TransactionType stored as 'DEBIT' and 'Credit' — mixed case across 10,000 rows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2505456"/>
            <a:ext cx="3200400" cy="50292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5511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Handled with exact string matching in DAX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186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18688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64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Foreign Key (AccountID 9999)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5844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transactions reference AccountID 9999 which doesn't exist in Accounts 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310128"/>
            <a:ext cx="320040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33558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LEFT JOIN returns NULL — identified in analysis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23360"/>
            <a:ext cx="64008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Email / Address Fields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 has NULL email; Customer 2 has NULL address; Account 105 has invalid CustomerID 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4114800"/>
            <a:ext cx="3200400" cy="502920"/>
          </a:xfrm>
          <a:prstGeom prst="rect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4160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Excluded from demographic analysis; flagged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★ CRITICAL slide for interviews — demonstrate your ability to detect and handle real-world dirty data scenarios.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737360"/>
          </a:xfrm>
          <a:prstGeom prst="rect">
            <a:avLst/>
          </a:prstGeom>
          <a:solidFill>
            <a:srgbClr val="1B2B4B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(SSMS)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creation, data ingestion, verification queries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INSERT, LEFT JOIN, GROUP BY, YEAR(), ROUND(), CASE WHEN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1737360"/>
          </a:xfrm>
          <a:prstGeom prst="rect">
            <a:avLst/>
          </a:prstGeom>
          <a:solidFill>
            <a:srgbClr val="1B2B4B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24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2-page dashboard with drill-down capability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1051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Area/Bar/Pie Charts, Slicers, Cross-filters, Drill 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60520" cy="1737360"/>
          </a:xfrm>
          <a:prstGeom prst="rect">
            <a:avLst/>
          </a:prstGeom>
          <a:solidFill>
            <a:srgbClr val="1B2B4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900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(Data Analysis Expressions)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410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KPI measures for all 7 cards across both pages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7647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DIVIDE, CALCULATE, DISTINCTCOUNT, ALL(), BLANK()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60520" cy="1737360"/>
          </a:xfrm>
          <a:prstGeom prst="rect">
            <a:avLst/>
          </a:prstGeom>
          <a:solidFill>
            <a:srgbClr val="1B2B4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900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410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documentation and DAX formula reference sheets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77647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descriptions, calculated column examples, project documentation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Emphasize end-to-end workflow — SQL for data prep → Power BI for visualization → DAX for metrics → Excel for documentation.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777240"/>
          <a:ext cx="3200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324612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669280" y="3246120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06440" y="32735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&amp; December peak at 4.0M — salary cycles &amp; year-end activity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669280" y="379476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69280" y="379476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06440" y="382219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&amp; November lowest volumes (0.9M and 0.7M respectively)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669280" y="434340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69280" y="434340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06440" y="437083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50-50 Debit/Credit split — balanced transaction flow observed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Connect the seasonal dips to real banking behavior — salary cycles, holiday spending, and quarter-end activity.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 &amp;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Transaction Overview (2025 Data)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0116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95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773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COUNT([TransactionID])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1155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115568"/>
            <a:ext cx="201168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1795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18.27M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41448" y="1773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41448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SUM([Amount])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1155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115568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1795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49.99%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08576" y="1773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08576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÷ Total × 100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75704" y="11155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115568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1795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50.01%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75704" y="1773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75704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÷ Total × 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5786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Customer &amp; Account Profile (All Data)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900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74320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DISTINCTCOUNT([CustomerID])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41448" y="292608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41448" y="292608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41448" y="29900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441448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Accounts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41448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DISTINCTCOUNT([Account_AccountID])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08576" y="292608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08576" y="2926080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29900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-15.78K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608576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Balance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08576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SUM([Balance])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75704" y="292608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75704" y="2926080"/>
            <a:ext cx="201168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29900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-3.95K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775704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75704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÷ Customers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For each KPI explain — What it measures, why it matters to the business, and how it was calculated in DAX.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— 2 PAGE REPORT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727008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Transaction Overview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Walk through each visual explaining WHAT it shows, WHY you chose that chart type, and WHAT insight it reveals.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E9E34C5-AAE6-F8FA-470C-0C6EEE01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70432"/>
            <a:ext cx="872700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"/>
          <p:cNvSpPr/>
          <p:nvPr/>
        </p:nvSpPr>
        <p:spPr>
          <a:xfrm>
            <a:off x="77822" y="771729"/>
            <a:ext cx="8897566" cy="4215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Customer &amp; Account Profile</a:t>
            </a:r>
            <a:endParaRPr lang="en-US" dirty="0"/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1E764C80-F9B0-C32F-CBDA-2F20C417902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r>
              <a:rPr lang="en-US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— 2 PAGE REPORT</a:t>
            </a:r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73205E-55D0-4F27-54F1-678A0A0A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2" y="1279190"/>
            <a:ext cx="8897566" cy="38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72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DISCOVERED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1B2B4B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15568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Transaction Peaks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&amp; December reach 4.0M — correlating with salary cycles and year-end spending. November hits lowest at 0.7M.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261872"/>
          </a:xfrm>
          <a:prstGeom prst="rect">
            <a:avLst/>
          </a:prstGeom>
          <a:solidFill>
            <a:srgbClr val="1B2B4B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115568"/>
            <a:ext cx="530352" cy="5303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1155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914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in Deep Deficit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298448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balance at -10,100.76K vs Savings +0.94K — signals high overdraft usage in current accounts.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206240" cy="1261872"/>
          </a:xfrm>
          <a:prstGeom prst="rect">
            <a:avLst/>
          </a:prstGeom>
          <a:solidFill>
            <a:srgbClr val="1B2B4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05456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054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Singh — Critical Anomaly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688336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-15,787.44K is a massive outlier requiring urgent risk review. Dominates overall negative balance.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12848"/>
            <a:ext cx="4206240" cy="1261872"/>
          </a:xfrm>
          <a:prstGeom prst="rect">
            <a:avLst/>
          </a:prstGeom>
          <a:solidFill>
            <a:srgbClr val="1B2B4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505456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5054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Age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688336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evenly split across 26-35, 36-50, 51+ (100 each) — may indicate sampled/synthetic dataset structure.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206240" cy="1261872"/>
          </a:xfrm>
          <a:prstGeom prst="rect">
            <a:avLst/>
          </a:prstGeom>
          <a:solidFill>
            <a:srgbClr val="1B2B4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895344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953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Debit/Credit 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07822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49.99% DEBIT vs 50.01% Credit — near-perfect balance confirms healthy two-way transaction activity.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4206240" cy="1261872"/>
          </a:xfrm>
          <a:prstGeom prst="rect">
            <a:avLst/>
          </a:prstGeom>
          <a:solidFill>
            <a:srgbClr val="1B2B4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895344"/>
            <a:ext cx="530352" cy="5303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8953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 Spike Jul 2025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7822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count jumped from 4 to 5 in July 2025 and stayed at 5 — one customer became dormant mid-year.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★ MOST IMPORTANT SLIDE — connect every insight to a real business implication. Show analytical thinking.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914400" cy="7040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85953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Priya Singh Account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17957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immediate risk assessment on -15,787.44K balance. Review transaction history and enforce overdraft alerts.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85953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0200"/>
            <a:ext cx="914400" cy="7040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00200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16550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Current Account Deficit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19751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accounts show -10,100.76K. Implement balance threshold alerts and overdraft protection policies immediately.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85953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95728"/>
            <a:ext cx="914400" cy="704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95728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4505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Marketing Campaigns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7706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promotions in February and November — the two lowest transaction months — to stimulate customer activity.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85953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191256"/>
            <a:ext cx="914400" cy="704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91256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2461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Quality at Source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5661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NULL email/address. Standardize date formats at entry level. Add referential integrity constraints in SQL.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986784"/>
            <a:ext cx="85953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86784"/>
            <a:ext cx="914400" cy="7040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86784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25880" y="40416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 Dormant Accounts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36168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5 inactive accounts identified from July 2025 onwards with personalized re-engagement campaigns.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Analyst Note: Prioritize recommendations by business impact. Show you think like an analyst — connecting data findings to real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LIMITATIONS &amp; FUTURE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225296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88720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9,700 NULL CustomerIDs due to denormalized LEFT JOIN 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88366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VARCHAR date formats required careful SQL handling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87168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254203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50545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 drill action affected KPI card values unexpectedly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32004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63824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TransactionType casing broke DAX aggregations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80467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170432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0328" y="122529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188720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Python for anomaly detection on extreme balance outliers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18836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84708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data refresh via Power BI Service cloud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87168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0328" y="25420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50545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 for customer churn risk scoring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145536"/>
            <a:ext cx="4023360" cy="566928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0328" y="32004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163824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to include loan, investment and FD products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8595360" cy="96012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0448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end-to-end data analytics workflow: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Data → Data Cleaning → DAX KPI Metrics → Power BI Dashboard → Actionable Business Insights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1294</Words>
  <Application>Microsoft Office PowerPoint</Application>
  <PresentationFormat>On-screen Show (16:9)</PresentationFormat>
  <Paragraphs>186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Analytics Dashboard</dc:title>
  <dc:subject>PptxGenJS Presentation</dc:subject>
  <dc:creator>PptxGenJS</dc:creator>
  <cp:lastModifiedBy>Rashmi Pal</cp:lastModifiedBy>
  <cp:revision>2</cp:revision>
  <dcterms:created xsi:type="dcterms:W3CDTF">2026-05-08T04:11:53Z</dcterms:created>
  <dcterms:modified xsi:type="dcterms:W3CDTF">2026-05-08T16:59:40Z</dcterms:modified>
</cp:coreProperties>
</file>